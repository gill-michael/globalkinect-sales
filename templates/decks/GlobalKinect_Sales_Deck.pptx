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3566160"/>
            <a:ext cx="2194560" cy="15773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2468880"/>
            <a:ext cx="1097280" cy="1188720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KINECT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country.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payroll chaos.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4015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Bureau · EOR · HRIS — built for companies hiring across MENA and internationally.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globalkinect.co.uk  ·  globalkinect.ae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across borders is broken.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411480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89888"/>
            <a:ext cx="64008" cy="1417320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vendors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80136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payroll bureau in every country. No unified data, no consistent process, no single view of what your workforce costs.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389888"/>
            <a:ext cx="411480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389888"/>
            <a:ext cx="64008" cy="1417320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blind spots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5192" y="180136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labour law changes faster than your HR team can track. Saudi EOSB, UAE WPS, Egypt social insurance — each managed separately.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990088"/>
            <a:ext cx="411480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90088"/>
            <a:ext cx="64008" cy="1417320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081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340156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runs in silos. Finance consolidates manually. Month-end is a fire drill every time.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2990088"/>
            <a:ext cx="411480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990088"/>
            <a:ext cx="64008" cy="1417320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3081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EOR complexity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65192" y="340156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Employing someone in a new country legally means weeks of entity setup — or a mis-classified contractor who becomes a liability.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operating layer. Every country you hire in.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2697480" cy="2926080"/>
          </a:xfrm>
          <a:prstGeom prst="rect">
            <a:avLst/>
          </a:prstGeom>
          <a:solidFill>
            <a:srgbClr val="253A52"/>
          </a:solidFill>
          <a:ln w="12700">
            <a:solidFill>
              <a:srgbClr val="2D466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828800"/>
            <a:ext cx="2697480" cy="6400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25237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Bureau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payroll delivery with in-country compliance, statutory calculations, and pack generation. One submission covers every country.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828800"/>
            <a:ext cx="2697480" cy="2926080"/>
          </a:xfrm>
          <a:prstGeom prst="rect">
            <a:avLst/>
          </a:prstGeom>
          <a:solidFill>
            <a:srgbClr val="253A52"/>
          </a:solidFill>
          <a:ln w="12700">
            <a:solidFill>
              <a:srgbClr val="2D466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828800"/>
            <a:ext cx="2697480" cy="6400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965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74720" y="25237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944368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 staff in new markets within days. Global Kinect is the legal employer. You direct the work. Fully compliant in every country.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2697480" cy="2926080"/>
          </a:xfrm>
          <a:prstGeom prst="rect">
            <a:avLst/>
          </a:prstGeom>
          <a:solidFill>
            <a:srgbClr val="253A52"/>
          </a:solidFill>
          <a:ln w="12700">
            <a:solidFill>
              <a:srgbClr val="2D466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828800"/>
            <a:ext cx="2697480" cy="6400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965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00800" y="25237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944368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HR system of record across all countries. Leave, documents, org structure, and employee data in a single platform.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contract. One platform. One point of contact.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Bureau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5214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payroll delivery with full compliance — across every country in scope.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10512"/>
            <a:ext cx="100584" cy="100584"/>
          </a:xfrm>
          <a:prstGeom prst="ellipse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83080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In-country statutory calculations — GOSI, PAYE, WPS, EOSB, and more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231136"/>
            <a:ext cx="100584" cy="100584"/>
          </a:xfrm>
          <a:prstGeom prst="ellipse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704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generation and client approval workflow built 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100584" cy="100584"/>
          </a:xfrm>
          <a:prstGeom prst="ellipse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24328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Finance-ready consolidated reporting across all countries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072384"/>
            <a:ext cx="100584" cy="100584"/>
          </a:xfrm>
          <a:prstGeom prst="ellipse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44952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calendar management and deadline tracking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493008"/>
            <a:ext cx="100584" cy="100584"/>
          </a:xfrm>
          <a:prstGeom prst="ellipse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65576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detection and anomaly flagging before each run locks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913632"/>
            <a:ext cx="100584" cy="100584"/>
          </a:xfrm>
          <a:prstGeom prst="ellipse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886200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Saudization and Emiratisation tracking included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52160" y="457200"/>
            <a:ext cx="2971800" cy="4434840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0" y="457200"/>
            <a:ext cx="2971800" cy="6400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749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080760" y="1225296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on globalkinect.co.uk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80760" y="1572768"/>
            <a:ext cx="2194560" cy="9144"/>
          </a:xfrm>
          <a:prstGeom prst="rect">
            <a:avLst/>
          </a:prstGeom>
          <a:solidFill>
            <a:srgbClr val="2D4668"/>
          </a:solidFill>
          <a:ln w="12700">
            <a:solidFill>
              <a:srgbClr val="2D46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17373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080760" y="2212848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countries with native depth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80760" y="2560320"/>
            <a:ext cx="2194560" cy="9144"/>
          </a:xfrm>
          <a:prstGeom prst="rect">
            <a:avLst/>
          </a:prstGeom>
          <a:solidFill>
            <a:srgbClr val="2D4668"/>
          </a:solidFill>
          <a:ln w="12700">
            <a:solidFill>
              <a:srgbClr val="2D46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27249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WPS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080760" y="320040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Wages Protection System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80760" y="3547872"/>
            <a:ext cx="2194560" cy="9144"/>
          </a:xfrm>
          <a:prstGeom prst="rect">
            <a:avLst/>
          </a:prstGeom>
          <a:solidFill>
            <a:srgbClr val="2D4668"/>
          </a:solidFill>
          <a:ln w="12700">
            <a:solidFill>
              <a:srgbClr val="2D46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371246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GOSI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080760" y="4187952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GOSI + HRSD integrated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of Record (EOR)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5214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 anyone in a new country — legally, quickly, without setting up a local entity.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1920240"/>
            <a:ext cx="594360" cy="594360"/>
          </a:xfrm>
          <a:prstGeom prst="ellipse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385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26334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hire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30632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agree the role, salary, and start date.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96312" y="178308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1920240"/>
            <a:ext cx="594360" cy="594360"/>
          </a:xfrm>
          <a:prstGeom prst="ellipse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2112" y="19385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87752" y="26334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employ them legally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87752" y="30632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Kinect signs the employment contract as the legal employer in that country.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72584" y="178308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58384" y="1920240"/>
            <a:ext cx="594360" cy="594360"/>
          </a:xfrm>
          <a:prstGeom prst="ellipse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58384" y="19385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64024" y="26334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direct the work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64024" y="30632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works under your direction. We handle legal, HR, and payroll obligations.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48856" y="178308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34656" y="1920240"/>
            <a:ext cx="594360" cy="594360"/>
          </a:xfrm>
          <a:prstGeom prst="ellipse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34656" y="19385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40296" y="26334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handle compliance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40296" y="306324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tax, social contributions, leave entitlements — managed by us, every cycle.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across 100+ countries  ·  Average onboarding: days, not weeks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5214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HR system of record for every employee — regardless of country or employment type.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2724912" cy="1261872"/>
          </a:xfrm>
          <a:prstGeom prst="rect">
            <a:avLst/>
          </a:prstGeom>
          <a:solidFill>
            <a:srgbClr val="E8F2FE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783080"/>
            <a:ext cx="64008" cy="1261872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632" y="21945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data across all countries, entities, and employment types.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783080"/>
            <a:ext cx="2724912" cy="1261872"/>
          </a:xfrm>
          <a:prstGeom prst="rect">
            <a:avLst/>
          </a:prstGeom>
          <a:solidFill>
            <a:srgbClr val="E8F2FE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783080"/>
            <a:ext cx="64008" cy="1261872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10712" y="21945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Country-specific entitlements configured automatically. Requests and balances in one place.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1783080"/>
            <a:ext cx="2724912" cy="1261872"/>
          </a:xfrm>
          <a:prstGeom prst="rect">
            <a:avLst/>
          </a:prstGeom>
          <a:solidFill>
            <a:srgbClr val="E8F2FE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783080"/>
            <a:ext cx="64008" cy="1261872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management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36792" y="21945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Contracts, visa documents, offer letters — stored, versioned, and auditable.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200400"/>
            <a:ext cx="2724912" cy="1261872"/>
          </a:xfrm>
          <a:prstGeom prst="rect">
            <a:avLst/>
          </a:prstGeom>
          <a:solidFill>
            <a:srgbClr val="E8F2FE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200400"/>
            <a:ext cx="64008" cy="1261872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3291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structure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" y="36118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lines, departments, cost centres — visible across the whole organisation.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46120" y="3200400"/>
            <a:ext cx="2724912" cy="1261872"/>
          </a:xfrm>
          <a:prstGeom prst="rect">
            <a:avLst/>
          </a:prstGeom>
          <a:solidFill>
            <a:srgbClr val="E8F2FE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3200400"/>
            <a:ext cx="64008" cy="1261872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0712" y="3291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workflows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10712" y="36118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onboarding with e-signature, document collection, and task tracking.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72200" y="3200400"/>
            <a:ext cx="2724912" cy="1261872"/>
          </a:xfrm>
          <a:prstGeom prst="rect">
            <a:avLst/>
          </a:prstGeom>
          <a:solidFill>
            <a:srgbClr val="E8F2FE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3200400"/>
            <a:ext cx="64008" cy="1261872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6792" y="3291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36792" y="36118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Leave, expense, and change requests routed to the right manager, every time.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APP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with every account.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every employee.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Kinect app gives employees, managers, and admins full visibility — on any device, in any country.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386584"/>
            <a:ext cx="100584" cy="100584"/>
          </a:xfrm>
          <a:prstGeom prst="ellipse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331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Payslips &amp; documents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596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834640" y="2386584"/>
            <a:ext cx="100584" cy="100584"/>
          </a:xfrm>
          <a:prstGeom prst="ellipse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35808" y="2331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requests &amp; balances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35808" y="2596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990088"/>
            <a:ext cx="100584" cy="100584"/>
          </a:xfrm>
          <a:prstGeom prst="ellipse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9352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clock-in / attendance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32004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834640" y="2990088"/>
            <a:ext cx="100584" cy="100584"/>
          </a:xfrm>
          <a:prstGeom prst="ellipse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5808" y="29352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EOR contract signing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35808" y="32004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593592"/>
            <a:ext cx="100584" cy="100584"/>
          </a:xfrm>
          <a:prstGeom prst="ellipse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538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submission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" y="38039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834640" y="3593592"/>
            <a:ext cx="100584" cy="100584"/>
          </a:xfrm>
          <a:prstGeom prst="ellipse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35808" y="3538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35808" y="38039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4197096"/>
            <a:ext cx="100584" cy="100584"/>
          </a:xfrm>
          <a:prstGeom prst="ellipse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1422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run oversight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44074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834640" y="4197096"/>
            <a:ext cx="100584" cy="100584"/>
          </a:xfrm>
          <a:prstGeom prst="ellipse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35808" y="41422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org view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35808" y="44074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852160" y="457200"/>
            <a:ext cx="2971800" cy="443484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852160" y="457200"/>
            <a:ext cx="2971800" cy="6400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914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</a:t>
            </a:r>
            <a:endParaRPr lang="en-US" sz="6000" dirty="0"/>
          </a:p>
        </p:txBody>
      </p:sp>
      <p:sp>
        <p:nvSpPr>
          <p:cNvPr id="33" name="Text 31"/>
          <p:cNvSpPr/>
          <p:nvPr/>
        </p:nvSpPr>
        <p:spPr>
          <a:xfrm>
            <a:off x="598932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employee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09360" y="2148840"/>
            <a:ext cx="1828800" cy="13716"/>
          </a:xfrm>
          <a:prstGeom prst="rect">
            <a:avLst/>
          </a:prstGeom>
          <a:solidFill>
            <a:srgbClr val="2D4668"/>
          </a:solidFill>
          <a:ln w="12700">
            <a:solidFill>
              <a:srgbClr val="2D46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2304288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free with every Global Kinect account. No per-seat fee. No additional licence.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89320" y="43434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 ·  Android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reach. MENA expertise.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4023360" cy="3520440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53312"/>
            <a:ext cx="4023360" cy="6400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MENA Countries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8836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compliance depth in every country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2359152"/>
            <a:ext cx="91440" cy="91440"/>
          </a:xfrm>
          <a:prstGeom prst="ellipse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860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87168" y="2359152"/>
            <a:ext cx="91440" cy="91440"/>
          </a:xfrm>
          <a:prstGeom prst="ellipse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22860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779776"/>
            <a:ext cx="91440" cy="91440"/>
          </a:xfrm>
          <a:prstGeom prst="ellipse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70662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87168" y="2779776"/>
            <a:ext cx="91440" cy="91440"/>
          </a:xfrm>
          <a:prstGeom prst="ellipse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270662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3200400"/>
            <a:ext cx="91440" cy="91440"/>
          </a:xfrm>
          <a:prstGeom prst="ellipse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1272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Bahrain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87168" y="3200400"/>
            <a:ext cx="91440" cy="91440"/>
          </a:xfrm>
          <a:prstGeom prst="ellipse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31272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3621024"/>
            <a:ext cx="91440" cy="91440"/>
          </a:xfrm>
          <a:prstGeom prst="ellipse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5478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87168" y="3621024"/>
            <a:ext cx="91440" cy="91440"/>
          </a:xfrm>
          <a:prstGeom prst="ellipse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35478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" y="4041648"/>
            <a:ext cx="91440" cy="91440"/>
          </a:xfrm>
          <a:prstGeom prst="ellipse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9684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Algeria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87168" y="4041648"/>
            <a:ext cx="91440" cy="91440"/>
          </a:xfrm>
          <a:prstGeom prst="ellipse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39684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Lebanon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4462272"/>
            <a:ext cx="91440" cy="91440"/>
          </a:xfrm>
          <a:prstGeom prst="ellipse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3891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1353312"/>
            <a:ext cx="4023360" cy="3520440"/>
          </a:xfrm>
          <a:prstGeom prst="rect">
            <a:avLst/>
          </a:prstGeom>
          <a:solidFill>
            <a:srgbClr val="F2F4F7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1353312"/>
            <a:ext cx="4023360" cy="64008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148132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Countries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56048" y="18836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EOR and payroll wherever you hire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56048" y="2386584"/>
            <a:ext cx="91440" cy="164592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23317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876288" y="2386584"/>
            <a:ext cx="91440" cy="164592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40880" y="23317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Pacific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956048" y="2889504"/>
            <a:ext cx="91440" cy="164592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28346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76288" y="2889504"/>
            <a:ext cx="91440" cy="164592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40880" y="28346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956048" y="3392424"/>
            <a:ext cx="91440" cy="164592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0" y="3337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876288" y="3392424"/>
            <a:ext cx="91440" cy="164592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40880" y="3337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Asia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contract covers all countries  ·  HQ in London  ·  Regional office in Dubai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companies with people across borders.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4160520" cy="6400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96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Operators (A1)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 businesses running payroll across 2+ GCC states — fragmented, manual, and exposed to compliance risk.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4160520" cy="6400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4996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GCC Businesses (A3)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37760" y="184708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Fast-growing companies entering new MENA markets, needing EOR to hire quickly without entity setup.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06324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63240"/>
            <a:ext cx="4160520" cy="6400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912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Multi-Country (B1)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53872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with payroll across 3+ EU or UK markets needing one platform instead of multiple bureau relationships.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063240"/>
            <a:ext cx="4160520" cy="6400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1912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Expanders (B3/B4)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37760" y="353872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businesses entering MENA for the first time — needing local payroll and EOR expertise.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GLOBAL KINECT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different.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60520" cy="1115568"/>
          </a:xfrm>
          <a:prstGeom prst="rect">
            <a:avLst/>
          </a:prstGeom>
          <a:solidFill>
            <a:srgbClr val="F2F4F7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64008" cy="111556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4630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— not an aggregator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4632" y="1773936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Bureau, EOR, and HRIS run on a single data model. No middleware. No reconciliation. One source of truth.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160520" cy="1115568"/>
          </a:xfrm>
          <a:prstGeom prst="rect">
            <a:avLst/>
          </a:prstGeom>
          <a:solidFill>
            <a:srgbClr val="F2F4F7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64008" cy="111556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4630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MENA-native compliance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19472" y="1773936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WPS, GOSI, HRSD, Saudization, Emiratisation — built in, not bolted on. Our team handles updates, not yours.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606040"/>
            <a:ext cx="4160520" cy="1115568"/>
          </a:xfrm>
          <a:prstGeom prst="rect">
            <a:avLst/>
          </a:prstGeom>
          <a:solidFill>
            <a:srgbClr val="F2F4F7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606040"/>
            <a:ext cx="64008" cy="111556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6974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portal included free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" y="3008376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gets the app — payslips, leave, QR clock-in, EOR onboarding. No per-seat fee.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4160520" cy="1115568"/>
          </a:xfrm>
          <a:prstGeom prst="rect">
            <a:avLst/>
          </a:prstGeom>
          <a:solidFill>
            <a:srgbClr val="F2F4F7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606040"/>
            <a:ext cx="64008" cy="111556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6974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contract model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19472" y="3008376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master agreement. No separate bureau contracts per market. One invoice. One point of contact.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840480"/>
            <a:ext cx="4160520" cy="1115568"/>
          </a:xfrm>
          <a:prstGeom prst="rect">
            <a:avLst/>
          </a:prstGeom>
          <a:solidFill>
            <a:srgbClr val="F2F4F7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40480"/>
            <a:ext cx="64008" cy="111556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931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or self-serve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" y="4242816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access for teams who want control. Fully managed for teams who want the output without the admin.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840480"/>
            <a:ext cx="4160520" cy="1115568"/>
          </a:xfrm>
          <a:prstGeom prst="rect">
            <a:avLst/>
          </a:prstGeom>
          <a:solidFill>
            <a:srgbClr val="F2F4F7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840480"/>
            <a:ext cx="64008" cy="111556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931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HQ. Dubai presence.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19472" y="4242816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headquarters with a regional office in Dubai. Local credibility for MENA buyers.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COMPLIANCE DEPTH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this for the region. Not retrofitted it.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57276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72768"/>
            <a:ext cx="64008" cy="713232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627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" y="19019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GOSI · EOSB (automatic) · Saudization / Nitaqat · HRSD · IQAMA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157276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572768"/>
            <a:ext cx="64008" cy="713232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627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19472" y="19019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WPS file generation · EOSB · Emiratisation · GPSSA (Abu Dhabi)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37744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77440"/>
            <a:ext cx="64008" cy="713232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432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" y="27066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GRSIA · WPS · EOSB · Labour Law compliance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237744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377440"/>
            <a:ext cx="64008" cy="713232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432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19472" y="27066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PIFSS · EOSB · Labour Law leave and termination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182112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82112"/>
            <a:ext cx="64008" cy="713232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2369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Bahrain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" y="351129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SIO · EOSB · Labour Fund · Labour Law compliance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3182112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182112"/>
            <a:ext cx="64008" cy="713232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2369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19472" y="351129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 · EOSB · Omanisation tracking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986784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986784"/>
            <a:ext cx="64008" cy="713232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40416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" y="43159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Insurance · Egyptian Labour Law · Tax tables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3986784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986784"/>
            <a:ext cx="64008" cy="713232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40416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Morocco, Algeria, Lebanon, Jordan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19472" y="43159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social contributions · Statutory calculations · Labour law outputs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Simple. Per employee. Per month.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069080" cy="1325880"/>
          </a:xfrm>
          <a:prstGeom prst="rect">
            <a:avLst/>
          </a:prstGeom>
          <a:solidFill>
            <a:srgbClr val="253A52"/>
          </a:solidFill>
          <a:ln w="12700">
            <a:solidFill>
              <a:srgbClr val="2D466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4069080" cy="6400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19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7568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employee, per month, per country. One monthly fee covers payroll bureau delivery, compliance, and platform access.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600200"/>
            <a:ext cx="4069080" cy="1325880"/>
          </a:xfrm>
          <a:prstGeom prst="rect">
            <a:avLst/>
          </a:prstGeom>
          <a:solidFill>
            <a:srgbClr val="253A52"/>
          </a:solidFill>
          <a:ln w="12700">
            <a:solidFill>
              <a:srgbClr val="2D466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600200"/>
            <a:ext cx="4069080" cy="6400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719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07568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for what you use. Start with one country and one service. Add more as you grow.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4069080" cy="1325880"/>
          </a:xfrm>
          <a:prstGeom prst="rect">
            <a:avLst/>
          </a:prstGeom>
          <a:solidFill>
            <a:srgbClr val="253A52"/>
          </a:solidFill>
          <a:ln w="12700">
            <a:solidFill>
              <a:srgbClr val="2D466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108960"/>
            <a:ext cx="4069080" cy="6400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27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included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58444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portal — payslips, leave, QR clock-in, documents — included free with every payroll service.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3108960"/>
            <a:ext cx="4069080" cy="1325880"/>
          </a:xfrm>
          <a:prstGeom prst="rect">
            <a:avLst/>
          </a:prstGeom>
          <a:solidFill>
            <a:srgbClr val="253A52"/>
          </a:solidFill>
          <a:ln w="12700">
            <a:solidFill>
              <a:srgbClr val="2D466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108960"/>
            <a:ext cx="4069080" cy="6400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227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lock-in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58444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country. Expand across the platform at your pace.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STORY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8229600" cy="4160520"/>
          </a:xfrm>
          <a:prstGeom prst="rect">
            <a:avLst/>
          </a:prstGeom>
          <a:solidFill>
            <a:srgbClr val="253A52"/>
          </a:solidFill>
          <a:ln w="12700">
            <a:solidFill>
              <a:srgbClr val="2D466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13232"/>
            <a:ext cx="8229600" cy="6400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144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name]  ·  [Industry]  ·  [Countries]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the client's payroll challenge — fragmented providers, compliance risk, manual process, no visibility across countries.]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the Global Kinect implementation — which modules, which countries, how quickly it was set up.]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611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" y="38862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[Describe the result — time saved, errors eliminated, compliance achieved, visibility gained.]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running for your countries.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20-minute live demo. Your countries. Your employee scenarios. No generic walkthrough.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965960"/>
            <a:ext cx="3657600" cy="658368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196596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Demo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globalkinect.co.uk/contact?intent=demo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3337560"/>
            <a:ext cx="21945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34440" y="3474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HQ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234440" y="376732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London, United Kingdom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66160" y="3337560"/>
            <a:ext cx="21945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03320" y="3474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OFFICE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703320" y="376732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Dubai, UAE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3337560"/>
            <a:ext cx="21945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3474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172200" y="376732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globalkinect.co.uk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globalkinect.ae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B7DD8"/>
          </a:solidFill>
          <a:ln w="12700">
            <a:solidFill>
              <a:srgbClr val="2B7D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4846320"/>
            <a:ext cx="8961120" cy="2971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Kinect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359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country.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944368"/>
            <a:ext cx="2743200" cy="13716"/>
          </a:xfrm>
          <a:prstGeom prst="rect">
            <a:avLst/>
          </a:prstGeom>
          <a:solidFill>
            <a:srgbClr val="2D4668"/>
          </a:solidFill>
          <a:ln w="12700">
            <a:solidFill>
              <a:srgbClr val="2D46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127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globalkinect.co.uk  ·  globalkinect.ae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Bureau  ·  EOR  ·  HRIS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Confidential. Prepared for: [Prospect name]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Kinect — Payroll Bureau, EOR &amp; HRIS</dc:title>
  <dc:subject>PptxGenJS Presentation</dc:subject>
  <dc:creator>Global Kinect</dc:creator>
  <cp:lastModifiedBy>Global Kinect</cp:lastModifiedBy>
  <cp:revision>1</cp:revision>
  <dcterms:created xsi:type="dcterms:W3CDTF">2026-04-12T21:00:34Z</dcterms:created>
  <dcterms:modified xsi:type="dcterms:W3CDTF">2026-04-12T21:00:34Z</dcterms:modified>
</cp:coreProperties>
</file>